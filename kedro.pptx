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71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577671"/>
    <a:srgbClr val="4D7178"/>
    <a:srgbClr val="5276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>
        <p:scale>
          <a:sx n="75" d="100"/>
          <a:sy n="75" d="100"/>
        </p:scale>
        <p:origin x="1890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951A0F-450E-888C-CB85-DC4AF3DD4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257693-14A3-3FB9-D130-D3EDF95BA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EFD85B-4285-9E18-AF71-CC31B12E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9352E-D5E4-413B-B76B-B71647487249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72E118-4F98-FF1F-13C8-65AF5D036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5C5C91-DE76-0F81-C39D-8A9ECEDE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FD593-FA66-43BE-BD3D-E8F9B8CBFF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9948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53599E-3D24-C9B3-2AF2-68C277FBC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9282EB-B359-95A8-90F6-1D25D8149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16A4FF-70F7-6974-A003-02BC7BBC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9352E-D5E4-413B-B76B-B71647487249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765DF7-F401-0D62-6886-2284B8785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5A4AF8-5A57-3B86-A021-4995E3EC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FD593-FA66-43BE-BD3D-E8F9B8CBFF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53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FA20E3-D047-3229-5115-5FD235AFB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528B3C-E755-FA2F-E296-3360ACBB1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152C7F-5D39-E26E-D75E-121BA97E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9352E-D5E4-413B-B76B-B71647487249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DFA4CA-4C7C-C181-5B15-A9F23D9FB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0D4EA6-4E2E-C716-96B4-2B75C21E3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FD593-FA66-43BE-BD3D-E8F9B8CBFF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72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A4FD09-3805-797F-60AC-07FA413EC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964DA9-DA70-70AA-D311-A6F2E5320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530E73E-D990-11D8-D122-964762362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EC4865-D1B8-2134-50D4-99FD8D3B8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9352E-D5E4-413B-B76B-B71647487249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E1B7C0E-7868-7C9E-A1DA-A343F2DFB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7EE387-7548-0589-F37F-A6CEA295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FD593-FA66-43BE-BD3D-E8F9B8CBFF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9248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CF8007-959A-936F-4ACA-D55CCDEAD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53E775-0573-C176-CE6C-BBC78023B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8B134B2-BC46-3E38-7BC6-0E770CB1D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2D32807-FE9C-7387-A53B-12BC93392D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EAE652A-D2B7-3EEE-A2B3-88FC9BA289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DC92716-097D-06E7-AFB4-20D282840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9352E-D5E4-413B-B76B-B71647487249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11E89E2-2B52-5EBB-A972-EB3EAF786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43C1D28-E9D3-D21F-5B99-268A37EC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FD593-FA66-43BE-BD3D-E8F9B8CBFF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2723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2F6ADB-DED4-EE4A-99D1-8FBF10AF5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4CEEE58-7BE5-FF55-1B71-A96F4A3D3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9352E-D5E4-413B-B76B-B71647487249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5846494-BC9A-49E3-9296-001AA9E9E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F4FCD4-A209-B782-60C3-875D2120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FD593-FA66-43BE-BD3D-E8F9B8CBFF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8291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2E0E6FF-BC42-DD2E-FA44-CF2E40C25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9352E-D5E4-413B-B76B-B71647487249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29EBF26-7BA1-052B-00D0-4A8EBAF3B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C97443-5EE3-1B9F-218B-6B41786CE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FD593-FA66-43BE-BD3D-E8F9B8CBFF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148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0282D8-9D80-AC0E-0C92-46594F627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5A41A4-C25E-DD8B-D945-1CC777712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6A0EB8-82B5-1A4C-60B8-3943BE37B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172655-A31A-E719-35ED-2AA2C7B79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9352E-D5E4-413B-B76B-B71647487249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751195-DE43-1BB2-5060-C1366777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0BBB20-F831-093F-2442-FE4D080F1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FD593-FA66-43BE-BD3D-E8F9B8CBFF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518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FD9579-F977-F264-6474-4B9FC7427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137A4A2-E4B5-B50F-8AF9-287284A52E1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D2AAB5E-984F-FDBF-A016-46B32F832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19972C-A98D-A619-BF45-76EFBB3B4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9352E-D5E4-413B-B76B-B71647487249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698FAD-CD82-40B9-42BE-C4752F01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A8DB56B-C932-9B97-91A5-6D4AEE21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FD593-FA66-43BE-BD3D-E8F9B8CBFF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5374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678564-ACAC-0CEE-9A59-30F0F3A2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227F3F1-B5B9-B26B-CEDD-035552E82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A8B583-A88D-0C9A-BF94-AFC08DBB5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9352E-D5E4-413B-B76B-B71647487249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6E8D06-518E-7EDE-3FD2-66388128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AB4DC7-1AB6-1CBA-3C41-35D264810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FD593-FA66-43BE-BD3D-E8F9B8CBFF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269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FBD42C6-D182-5046-620D-FB11F96F77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0A9D950-B257-0B66-AF19-4AEA72A4E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EB7037-ED62-D186-70FA-0763CC99D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9352E-D5E4-413B-B76B-B71647487249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BB037C-30BE-A99B-7F81-10F1D8668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E719A9-B1AA-6BB2-7470-7EBBCB1BA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FD593-FA66-43BE-BD3D-E8F9B8CBFF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451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334EB9D-9CB4-6B62-575A-C366780E4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9748CF-D4CE-5E6D-4D61-D6E6A428A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218C22-3E4C-DD3D-7814-BA5B4A963D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A9352E-D5E4-413B-B76B-B71647487249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7057BC-B041-A0CF-1A79-220087BFF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7C3924-DA7C-11CA-8A63-CBEEDA8F1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FD593-FA66-43BE-BD3D-E8F9B8CBFF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0742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BFEC9-D3C3-D434-E77F-11C37396D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8A32AA8-A1F2-9B0A-69D6-791A1A45B1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13" r="-2" b="-2"/>
          <a:stretch>
            <a:fillRect/>
          </a:stretch>
        </p:blipFill>
        <p:spPr>
          <a:xfrm>
            <a:off x="-6588" y="-66675"/>
            <a:ext cx="12198588" cy="692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223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9A4EF09-D4DA-66DF-95FA-64D426143B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9AC42F5-A05F-5562-4341-EF300DBF448A}"/>
              </a:ext>
            </a:extLst>
          </p:cNvPr>
          <p:cNvSpPr/>
          <p:nvPr/>
        </p:nvSpPr>
        <p:spPr>
          <a:xfrm>
            <a:off x="-13176" y="12700"/>
            <a:ext cx="12205176" cy="611414"/>
          </a:xfrm>
          <a:prstGeom prst="rect">
            <a:avLst/>
          </a:prstGeom>
          <a:solidFill>
            <a:srgbClr val="4D7178"/>
          </a:solidFill>
          <a:ln>
            <a:solidFill>
              <a:srgbClr val="5776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9112C54-2715-128D-9811-1507C9DFB600}"/>
              </a:ext>
            </a:extLst>
          </p:cNvPr>
          <p:cNvSpPr txBox="1"/>
          <p:nvPr/>
        </p:nvSpPr>
        <p:spPr>
          <a:xfrm>
            <a:off x="116112" y="43539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PV : 90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B1B3575-E587-E899-E49E-87EC45EF2A3D}"/>
              </a:ext>
            </a:extLst>
          </p:cNvPr>
          <p:cNvSpPr txBox="1"/>
          <p:nvPr/>
        </p:nvSpPr>
        <p:spPr>
          <a:xfrm>
            <a:off x="9622971" y="58053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ETAPE : m</a:t>
            </a:r>
          </a:p>
        </p:txBody>
      </p:sp>
    </p:spTree>
    <p:extLst>
      <p:ext uri="{BB962C8B-B14F-4D97-AF65-F5344CB8AC3E}">
        <p14:creationId xmlns:p14="http://schemas.microsoft.com/office/powerpoint/2010/main" val="1364260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2B45D-7609-838F-0D77-B853AA4AF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D5EE21F-DF00-9EEF-C1DA-1A422DD9D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13" r="-2" b="-2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2C83ACE-3B4A-099E-9866-53D8376626A8}"/>
              </a:ext>
            </a:extLst>
          </p:cNvPr>
          <p:cNvSpPr/>
          <p:nvPr/>
        </p:nvSpPr>
        <p:spPr>
          <a:xfrm>
            <a:off x="1905000" y="4596384"/>
            <a:ext cx="1789176" cy="170688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5C05656-334D-C95A-6C6C-1DE068842EB2}"/>
              </a:ext>
            </a:extLst>
          </p:cNvPr>
          <p:cNvSpPr/>
          <p:nvPr/>
        </p:nvSpPr>
        <p:spPr>
          <a:xfrm>
            <a:off x="1905000" y="4596384"/>
            <a:ext cx="1343025" cy="170688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F5B1F5F-E390-991F-7139-DA579B3E7209}"/>
              </a:ext>
            </a:extLst>
          </p:cNvPr>
          <p:cNvSpPr/>
          <p:nvPr/>
        </p:nvSpPr>
        <p:spPr>
          <a:xfrm>
            <a:off x="8497824" y="4596384"/>
            <a:ext cx="1789176" cy="170688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6A619F-EABA-0022-483F-E31CDE3A8280}"/>
              </a:ext>
            </a:extLst>
          </p:cNvPr>
          <p:cNvSpPr/>
          <p:nvPr/>
        </p:nvSpPr>
        <p:spPr>
          <a:xfrm>
            <a:off x="-13176" y="12700"/>
            <a:ext cx="12205176" cy="611414"/>
          </a:xfrm>
          <a:prstGeom prst="rect">
            <a:avLst/>
          </a:prstGeom>
          <a:solidFill>
            <a:srgbClr val="4D7178"/>
          </a:solidFill>
          <a:ln>
            <a:solidFill>
              <a:srgbClr val="5776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741E5C7-CC00-00B6-55E6-73A557F0F529}"/>
              </a:ext>
            </a:extLst>
          </p:cNvPr>
          <p:cNvSpPr txBox="1"/>
          <p:nvPr/>
        </p:nvSpPr>
        <p:spPr>
          <a:xfrm>
            <a:off x="116112" y="43539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PV : 70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64C0E90-2C5B-4E16-2746-BC5ECF4924F0}"/>
              </a:ext>
            </a:extLst>
          </p:cNvPr>
          <p:cNvSpPr txBox="1"/>
          <p:nvPr/>
        </p:nvSpPr>
        <p:spPr>
          <a:xfrm>
            <a:off x="9622971" y="58053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ETAPE : 1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A29FEC2D-2345-BAEC-C1DE-9E03EB65F196}"/>
              </a:ext>
            </a:extLst>
          </p:cNvPr>
          <p:cNvSpPr/>
          <p:nvPr/>
        </p:nvSpPr>
        <p:spPr>
          <a:xfrm>
            <a:off x="95394" y="800099"/>
            <a:ext cx="5246608" cy="132343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299A64B-E580-A7A8-B14B-9F22F67E5F1E}"/>
              </a:ext>
            </a:extLst>
          </p:cNvPr>
          <p:cNvSpPr txBox="1"/>
          <p:nvPr/>
        </p:nvSpPr>
        <p:spPr>
          <a:xfrm>
            <a:off x="116111" y="800100"/>
            <a:ext cx="54083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- exploration des données ;</a:t>
            </a:r>
          </a:p>
          <a:p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- premiers notebooks ;</a:t>
            </a:r>
          </a:p>
          <a:p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- entraînement d’un modèle ;</a:t>
            </a:r>
          </a:p>
          <a:p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- premières prédictions ;</a:t>
            </a:r>
          </a:p>
          <a:p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- tentatives d’industrialisation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E1C9842-4751-789A-F4EF-C4C548F3C74E}"/>
              </a:ext>
            </a:extLst>
          </p:cNvPr>
          <p:cNvSpPr/>
          <p:nvPr/>
        </p:nvSpPr>
        <p:spPr>
          <a:xfrm>
            <a:off x="6688217" y="800099"/>
            <a:ext cx="5246608" cy="107721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79C25E9-230C-A1F2-1217-95C1581773C5}"/>
              </a:ext>
            </a:extLst>
          </p:cNvPr>
          <p:cNvSpPr txBox="1"/>
          <p:nvPr/>
        </p:nvSpPr>
        <p:spPr>
          <a:xfrm>
            <a:off x="6688217" y="800099"/>
            <a:ext cx="54083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Manipulations manuelles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Fichiers locaux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Étapes difficiles à reproduire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Temps passé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68D8211-002E-9BB8-5800-EE1E669D81DC}"/>
              </a:ext>
            </a:extLst>
          </p:cNvPr>
          <p:cNvSpPr txBox="1"/>
          <p:nvPr/>
        </p:nvSpPr>
        <p:spPr>
          <a:xfrm>
            <a:off x="2416848" y="4550242"/>
            <a:ext cx="837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70/90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8910288-D0AF-FE1E-0695-AF3C0F49C8A6}"/>
              </a:ext>
            </a:extLst>
          </p:cNvPr>
          <p:cNvSpPr txBox="1"/>
          <p:nvPr/>
        </p:nvSpPr>
        <p:spPr>
          <a:xfrm>
            <a:off x="9121466" y="4550242"/>
            <a:ext cx="837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0/30</a:t>
            </a:r>
          </a:p>
        </p:txBody>
      </p:sp>
    </p:spTree>
    <p:extLst>
      <p:ext uri="{BB962C8B-B14F-4D97-AF65-F5344CB8AC3E}">
        <p14:creationId xmlns:p14="http://schemas.microsoft.com/office/powerpoint/2010/main" val="154390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4B04F-1AF5-62BA-5866-889D87002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4CB2F6F-B80B-81A5-68E9-90012626E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" r="-2" b="-2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45A7427-84E1-C001-4FEE-34D12F69A413}"/>
              </a:ext>
            </a:extLst>
          </p:cNvPr>
          <p:cNvSpPr/>
          <p:nvPr/>
        </p:nvSpPr>
        <p:spPr>
          <a:xfrm>
            <a:off x="-13176" y="12700"/>
            <a:ext cx="12205176" cy="611414"/>
          </a:xfrm>
          <a:prstGeom prst="rect">
            <a:avLst/>
          </a:prstGeom>
          <a:solidFill>
            <a:srgbClr val="4D7178"/>
          </a:solidFill>
          <a:ln>
            <a:solidFill>
              <a:srgbClr val="5776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37559BF-3E97-EF2B-1E79-90A60B86AD15}"/>
              </a:ext>
            </a:extLst>
          </p:cNvPr>
          <p:cNvSpPr txBox="1"/>
          <p:nvPr/>
        </p:nvSpPr>
        <p:spPr>
          <a:xfrm>
            <a:off x="116112" y="43539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PV : 70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AC27FDD-D5C7-FA8D-5031-AFA58C1A5D09}"/>
              </a:ext>
            </a:extLst>
          </p:cNvPr>
          <p:cNvSpPr txBox="1"/>
          <p:nvPr/>
        </p:nvSpPr>
        <p:spPr>
          <a:xfrm>
            <a:off x="9622971" y="58053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ETAPE : 2</a:t>
            </a:r>
          </a:p>
        </p:txBody>
      </p:sp>
    </p:spTree>
    <p:extLst>
      <p:ext uri="{BB962C8B-B14F-4D97-AF65-F5344CB8AC3E}">
        <p14:creationId xmlns:p14="http://schemas.microsoft.com/office/powerpoint/2010/main" val="165477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48B34-D979-0B46-3B2A-B147931DB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ce réservé du contenu 16">
            <a:extLst>
              <a:ext uri="{FF2B5EF4-FFF2-40B4-BE49-F238E27FC236}">
                <a16:creationId xmlns:a16="http://schemas.microsoft.com/office/drawing/2014/main" id="{EB78EC27-A9DF-A8E1-7032-7EC4DB0E2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05175" cy="72559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6D26C1-B5AE-7642-DE41-814080BC07C5}"/>
              </a:ext>
            </a:extLst>
          </p:cNvPr>
          <p:cNvSpPr/>
          <p:nvPr/>
        </p:nvSpPr>
        <p:spPr>
          <a:xfrm>
            <a:off x="-13176" y="-1814"/>
            <a:ext cx="12205176" cy="611414"/>
          </a:xfrm>
          <a:prstGeom prst="rect">
            <a:avLst/>
          </a:prstGeom>
          <a:solidFill>
            <a:srgbClr val="4D7178"/>
          </a:solidFill>
          <a:ln>
            <a:solidFill>
              <a:srgbClr val="5776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8B18424-BEFF-579F-97C1-5114EC5E8C52}"/>
              </a:ext>
            </a:extLst>
          </p:cNvPr>
          <p:cNvSpPr txBox="1"/>
          <p:nvPr/>
        </p:nvSpPr>
        <p:spPr>
          <a:xfrm>
            <a:off x="116112" y="43539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PV : 50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75D0C9-1DFF-EEB5-72C8-2F5B42F5453A}"/>
              </a:ext>
            </a:extLst>
          </p:cNvPr>
          <p:cNvSpPr txBox="1"/>
          <p:nvPr/>
        </p:nvSpPr>
        <p:spPr>
          <a:xfrm>
            <a:off x="9622971" y="58053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ETAPE : 3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0ACAB20-B2AF-2CE7-43E4-741F4361CC70}"/>
              </a:ext>
            </a:extLst>
          </p:cNvPr>
          <p:cNvSpPr/>
          <p:nvPr/>
        </p:nvSpPr>
        <p:spPr>
          <a:xfrm>
            <a:off x="1905000" y="5613290"/>
            <a:ext cx="1789176" cy="170688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7EDEC3E3-8F19-8A69-61F9-0B652ECD620D}"/>
              </a:ext>
            </a:extLst>
          </p:cNvPr>
          <p:cNvSpPr/>
          <p:nvPr/>
        </p:nvSpPr>
        <p:spPr>
          <a:xfrm>
            <a:off x="1905001" y="5613290"/>
            <a:ext cx="1136650" cy="170688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F750AC93-3C4C-BF3E-270D-91809C247336}"/>
              </a:ext>
            </a:extLst>
          </p:cNvPr>
          <p:cNvSpPr/>
          <p:nvPr/>
        </p:nvSpPr>
        <p:spPr>
          <a:xfrm>
            <a:off x="8040624" y="6178440"/>
            <a:ext cx="1789176" cy="170688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387272F9-48C7-99C0-D46B-8D3D219167F4}"/>
              </a:ext>
            </a:extLst>
          </p:cNvPr>
          <p:cNvSpPr/>
          <p:nvPr/>
        </p:nvSpPr>
        <p:spPr>
          <a:xfrm>
            <a:off x="116112" y="1074022"/>
            <a:ext cx="5808438" cy="138342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A993DA6-5D76-8278-240E-BFA84F3CF73C}"/>
              </a:ext>
            </a:extLst>
          </p:cNvPr>
          <p:cNvSpPr txBox="1"/>
          <p:nvPr/>
        </p:nvSpPr>
        <p:spPr>
          <a:xfrm>
            <a:off x="116112" y="1074022"/>
            <a:ext cx="61055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Flexibilité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Facilité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Rapidité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Perd l’ensemble des </a:t>
            </a:r>
            <a:r>
              <a:rPr lang="fr-FR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buffs</a:t>
            </a:r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 après la fin du tour</a:t>
            </a:r>
          </a:p>
          <a:p>
            <a:pPr marL="285750" indent="-285750">
              <a:buFontTx/>
              <a:buChar char="-"/>
            </a:pPr>
            <a:endParaRPr lang="fr-FR" sz="1600" dirty="0">
              <a:solidFill>
                <a:schemeClr val="accent6">
                  <a:lumMod val="60000"/>
                  <a:lumOff val="40000"/>
                </a:schemeClr>
              </a:solidFill>
              <a:latin typeface="Engravers MT" panose="02090707080505020304" pitchFamily="18" charset="0"/>
            </a:endParaRP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855EC184-5504-66F7-1862-88730AB23483}"/>
              </a:ext>
            </a:extLst>
          </p:cNvPr>
          <p:cNvSpPr/>
          <p:nvPr/>
        </p:nvSpPr>
        <p:spPr>
          <a:xfrm>
            <a:off x="6688217" y="800099"/>
            <a:ext cx="4275058" cy="107721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000E949-E080-365B-DA3E-87D137E74AA0}"/>
              </a:ext>
            </a:extLst>
          </p:cNvPr>
          <p:cNvSpPr txBox="1"/>
          <p:nvPr/>
        </p:nvSpPr>
        <p:spPr>
          <a:xfrm>
            <a:off x="6750050" y="800099"/>
            <a:ext cx="40513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Fichiers sans nommage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Dépendances invisibles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Concentration des connaissances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33618B1-EBBE-2760-C2D8-FFA48C20E93F}"/>
              </a:ext>
            </a:extLst>
          </p:cNvPr>
          <p:cNvSpPr txBox="1"/>
          <p:nvPr/>
        </p:nvSpPr>
        <p:spPr>
          <a:xfrm>
            <a:off x="2473326" y="5560134"/>
            <a:ext cx="837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50/90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BB309CB-8186-16D0-1B48-EEB4EBF97386}"/>
              </a:ext>
            </a:extLst>
          </p:cNvPr>
          <p:cNvSpPr txBox="1"/>
          <p:nvPr/>
        </p:nvSpPr>
        <p:spPr>
          <a:xfrm>
            <a:off x="8671886" y="6125284"/>
            <a:ext cx="837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0/50</a:t>
            </a: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E73CF32F-118D-009E-7669-86B6CAD6D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311" y="5783978"/>
            <a:ext cx="757732" cy="42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191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9D8F0F-FDD6-C2FB-7941-03FB3D7F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E4E2EBED-CE80-17E2-56E4-D28C63BA9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5512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596BF28-C9C8-2BA7-4093-C1036315A68D}"/>
              </a:ext>
            </a:extLst>
          </p:cNvPr>
          <p:cNvSpPr/>
          <p:nvPr/>
        </p:nvSpPr>
        <p:spPr>
          <a:xfrm>
            <a:off x="-13176" y="-1814"/>
            <a:ext cx="12205176" cy="611414"/>
          </a:xfrm>
          <a:prstGeom prst="rect">
            <a:avLst/>
          </a:prstGeom>
          <a:solidFill>
            <a:srgbClr val="4D7178"/>
          </a:solidFill>
          <a:ln>
            <a:solidFill>
              <a:srgbClr val="5776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95519F5-82F6-5213-7362-1B8F9B2528E2}"/>
              </a:ext>
            </a:extLst>
          </p:cNvPr>
          <p:cNvSpPr txBox="1"/>
          <p:nvPr/>
        </p:nvSpPr>
        <p:spPr>
          <a:xfrm>
            <a:off x="116112" y="43539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PV : 0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D4A8AF7-FDB2-AF6F-4C2D-83810DB26346}"/>
              </a:ext>
            </a:extLst>
          </p:cNvPr>
          <p:cNvSpPr txBox="1"/>
          <p:nvPr/>
        </p:nvSpPr>
        <p:spPr>
          <a:xfrm>
            <a:off x="9622971" y="58053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ETAPE : 4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D225CBE-00F2-61D1-4489-ABA71CCAD579}"/>
              </a:ext>
            </a:extLst>
          </p:cNvPr>
          <p:cNvSpPr/>
          <p:nvPr/>
        </p:nvSpPr>
        <p:spPr>
          <a:xfrm>
            <a:off x="8124825" y="6026271"/>
            <a:ext cx="1789176" cy="170688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DCAFB00A-3E9F-AD1D-A9C0-1382B0060EC1}"/>
              </a:ext>
            </a:extLst>
          </p:cNvPr>
          <p:cNvSpPr/>
          <p:nvPr/>
        </p:nvSpPr>
        <p:spPr>
          <a:xfrm>
            <a:off x="8124826" y="6026271"/>
            <a:ext cx="1136650" cy="170688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7396CF8C-1B47-21E5-4AAE-3C11909C7907}"/>
              </a:ext>
            </a:extLst>
          </p:cNvPr>
          <p:cNvSpPr/>
          <p:nvPr/>
        </p:nvSpPr>
        <p:spPr>
          <a:xfrm>
            <a:off x="1925574" y="5502165"/>
            <a:ext cx="1789176" cy="170688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9E2A90E8-AFF6-5C59-3D2D-648040D74956}"/>
              </a:ext>
            </a:extLst>
          </p:cNvPr>
          <p:cNvSpPr/>
          <p:nvPr/>
        </p:nvSpPr>
        <p:spPr>
          <a:xfrm>
            <a:off x="116110" y="800098"/>
            <a:ext cx="5408390" cy="611415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0794790-207F-A755-1A58-D6C1185E8A58}"/>
              </a:ext>
            </a:extLst>
          </p:cNvPr>
          <p:cNvSpPr txBox="1"/>
          <p:nvPr/>
        </p:nvSpPr>
        <p:spPr>
          <a:xfrm>
            <a:off x="257175" y="800100"/>
            <a:ext cx="5267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Diminution de la précision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Aucune traçabilité des essais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60EE5398-0E81-9AEA-8B35-D0C11043D5A0}"/>
              </a:ext>
            </a:extLst>
          </p:cNvPr>
          <p:cNvSpPr/>
          <p:nvPr/>
        </p:nvSpPr>
        <p:spPr>
          <a:xfrm>
            <a:off x="6688217" y="800099"/>
            <a:ext cx="5246608" cy="107721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5A22698-054C-9B65-918F-432B621746D4}"/>
              </a:ext>
            </a:extLst>
          </p:cNvPr>
          <p:cNvSpPr txBox="1"/>
          <p:nvPr/>
        </p:nvSpPr>
        <p:spPr>
          <a:xfrm>
            <a:off x="6791324" y="800099"/>
            <a:ext cx="52466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Persistance du problème métier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Expériences impossible a comparer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805B9A6-1FE9-AF0C-4C79-BB3036EDE4D6}"/>
              </a:ext>
            </a:extLst>
          </p:cNvPr>
          <p:cNvSpPr txBox="1"/>
          <p:nvPr/>
        </p:nvSpPr>
        <p:spPr>
          <a:xfrm>
            <a:off x="2546059" y="5449009"/>
            <a:ext cx="837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0/90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9E0B10D-42AB-EA7B-C028-5723885176CA}"/>
              </a:ext>
            </a:extLst>
          </p:cNvPr>
          <p:cNvSpPr txBox="1"/>
          <p:nvPr/>
        </p:nvSpPr>
        <p:spPr>
          <a:xfrm>
            <a:off x="8737183" y="5980920"/>
            <a:ext cx="837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60/100</a:t>
            </a: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7E311FA2-C0FD-83E2-578F-0B4FDB4A9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327" y="5678605"/>
            <a:ext cx="757732" cy="42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70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91B0D-164D-C70B-7A87-B7E777909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7FC6F1E-C12A-0D1E-164D-57C19F54C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66989FC-7299-5DC3-E0AF-3EDBBD58BEB5}"/>
              </a:ext>
            </a:extLst>
          </p:cNvPr>
          <p:cNvSpPr/>
          <p:nvPr/>
        </p:nvSpPr>
        <p:spPr>
          <a:xfrm>
            <a:off x="-13176" y="-1814"/>
            <a:ext cx="12205176" cy="611414"/>
          </a:xfrm>
          <a:prstGeom prst="rect">
            <a:avLst/>
          </a:prstGeom>
          <a:solidFill>
            <a:srgbClr val="4D7178"/>
          </a:solidFill>
          <a:ln>
            <a:solidFill>
              <a:srgbClr val="5776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22E5437-20BA-C14F-B761-C0236C672FD7}"/>
              </a:ext>
            </a:extLst>
          </p:cNvPr>
          <p:cNvSpPr txBox="1"/>
          <p:nvPr/>
        </p:nvSpPr>
        <p:spPr>
          <a:xfrm>
            <a:off x="116112" y="43539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PV : 0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784000E-ABCE-1100-E384-EAFED4AAAC5A}"/>
              </a:ext>
            </a:extLst>
          </p:cNvPr>
          <p:cNvSpPr txBox="1"/>
          <p:nvPr/>
        </p:nvSpPr>
        <p:spPr>
          <a:xfrm>
            <a:off x="9622971" y="58053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ETAPE : 5</a:t>
            </a:r>
          </a:p>
        </p:txBody>
      </p:sp>
    </p:spTree>
    <p:extLst>
      <p:ext uri="{BB962C8B-B14F-4D97-AF65-F5344CB8AC3E}">
        <p14:creationId xmlns:p14="http://schemas.microsoft.com/office/powerpoint/2010/main" val="907548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BF70C-AB7D-FAF2-5E44-10FB2F270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7249DB8-DA2E-E4E7-C76D-DC58BB952A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0"/>
          <a:stretch>
            <a:fillRect/>
          </a:stretch>
        </p:blipFill>
        <p:spPr>
          <a:xfrm>
            <a:off x="20" y="-76200"/>
            <a:ext cx="12191980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86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0699C-3F7D-FECC-1DCC-A1024EB2D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3A69955-E6EF-A5C2-70E8-CDDAB7F8F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23A4C3-F674-A73D-DFC1-A48BDABF9F58}"/>
              </a:ext>
            </a:extLst>
          </p:cNvPr>
          <p:cNvSpPr/>
          <p:nvPr/>
        </p:nvSpPr>
        <p:spPr>
          <a:xfrm>
            <a:off x="-13176" y="-1814"/>
            <a:ext cx="12205176" cy="611414"/>
          </a:xfrm>
          <a:prstGeom prst="rect">
            <a:avLst/>
          </a:prstGeom>
          <a:solidFill>
            <a:srgbClr val="4D7178"/>
          </a:solidFill>
          <a:ln>
            <a:solidFill>
              <a:srgbClr val="5776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D0C6A10-10B2-68BB-7871-5800F14304D0}"/>
              </a:ext>
            </a:extLst>
          </p:cNvPr>
          <p:cNvSpPr txBox="1"/>
          <p:nvPr/>
        </p:nvSpPr>
        <p:spPr>
          <a:xfrm>
            <a:off x="116112" y="43539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PV : 90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5AFB749-F770-8286-DB76-50A7301B731D}"/>
              </a:ext>
            </a:extLst>
          </p:cNvPr>
          <p:cNvSpPr txBox="1"/>
          <p:nvPr/>
        </p:nvSpPr>
        <p:spPr>
          <a:xfrm>
            <a:off x="9622971" y="58053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ETAPE : M</a:t>
            </a:r>
          </a:p>
        </p:txBody>
      </p:sp>
    </p:spTree>
    <p:extLst>
      <p:ext uri="{BB962C8B-B14F-4D97-AF65-F5344CB8AC3E}">
        <p14:creationId xmlns:p14="http://schemas.microsoft.com/office/powerpoint/2010/main" val="1394740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67266-5DE0-814B-5059-BC18A713F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AC422AA-4754-513F-9382-B9D0CD5C6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" b="493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B0FBA9D-F9AF-7A7B-7851-E74C1AB82D69}"/>
              </a:ext>
            </a:extLst>
          </p:cNvPr>
          <p:cNvSpPr/>
          <p:nvPr/>
        </p:nvSpPr>
        <p:spPr>
          <a:xfrm>
            <a:off x="-13176" y="-1814"/>
            <a:ext cx="12205176" cy="611414"/>
          </a:xfrm>
          <a:prstGeom prst="rect">
            <a:avLst/>
          </a:prstGeom>
          <a:solidFill>
            <a:srgbClr val="4D7178"/>
          </a:solidFill>
          <a:ln>
            <a:solidFill>
              <a:srgbClr val="5776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C5D3747-2E38-5C33-006E-B96728B57522}"/>
              </a:ext>
            </a:extLst>
          </p:cNvPr>
          <p:cNvSpPr txBox="1"/>
          <p:nvPr/>
        </p:nvSpPr>
        <p:spPr>
          <a:xfrm>
            <a:off x="116112" y="43539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PV : 70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110F00C-F757-C0F2-9DAA-584179F891D3}"/>
              </a:ext>
            </a:extLst>
          </p:cNvPr>
          <p:cNvSpPr txBox="1"/>
          <p:nvPr/>
        </p:nvSpPr>
        <p:spPr>
          <a:xfrm>
            <a:off x="9622971" y="58053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ETAPE : 1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DD72009-D195-F370-BFB4-0AE496DA3F0E}"/>
              </a:ext>
            </a:extLst>
          </p:cNvPr>
          <p:cNvSpPr/>
          <p:nvPr/>
        </p:nvSpPr>
        <p:spPr>
          <a:xfrm>
            <a:off x="116110" y="800098"/>
            <a:ext cx="3570065" cy="338555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8223032-A8B0-4FE5-8C6A-01FD4F7CF767}"/>
              </a:ext>
            </a:extLst>
          </p:cNvPr>
          <p:cNvSpPr txBox="1"/>
          <p:nvPr/>
        </p:nvSpPr>
        <p:spPr>
          <a:xfrm>
            <a:off x="257175" y="800100"/>
            <a:ext cx="52673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- Template de projet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511BB279-7BB6-161F-16C5-53672AD051F5}"/>
              </a:ext>
            </a:extLst>
          </p:cNvPr>
          <p:cNvSpPr/>
          <p:nvPr/>
        </p:nvSpPr>
        <p:spPr>
          <a:xfrm>
            <a:off x="6688217" y="800099"/>
            <a:ext cx="5246608" cy="107721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2C4571D-26D3-93E7-D171-366FB0FA9327}"/>
              </a:ext>
            </a:extLst>
          </p:cNvPr>
          <p:cNvSpPr txBox="1"/>
          <p:nvPr/>
        </p:nvSpPr>
        <p:spPr>
          <a:xfrm>
            <a:off x="6791324" y="800099"/>
            <a:ext cx="52466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Manipulations manuelles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Fichiers locaux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Étapes difficiles à reproduire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Temps passé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9BDF2280-CCD9-8481-F680-CD5E2E0FF6CD}"/>
              </a:ext>
            </a:extLst>
          </p:cNvPr>
          <p:cNvSpPr/>
          <p:nvPr/>
        </p:nvSpPr>
        <p:spPr>
          <a:xfrm>
            <a:off x="2428875" y="4967859"/>
            <a:ext cx="1789176" cy="170688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E8584B60-5010-F5C8-A576-C064E1A939F2}"/>
              </a:ext>
            </a:extLst>
          </p:cNvPr>
          <p:cNvSpPr/>
          <p:nvPr/>
        </p:nvSpPr>
        <p:spPr>
          <a:xfrm>
            <a:off x="2428875" y="4967859"/>
            <a:ext cx="1524000" cy="170688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25457387-9E21-323D-7687-D7A5FFCE16D6}"/>
              </a:ext>
            </a:extLst>
          </p:cNvPr>
          <p:cNvSpPr/>
          <p:nvPr/>
        </p:nvSpPr>
        <p:spPr>
          <a:xfrm>
            <a:off x="8497824" y="4967859"/>
            <a:ext cx="1789176" cy="170688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D5297A5-8BD7-BEE4-A4ED-A63BC19ACBDA}"/>
              </a:ext>
            </a:extLst>
          </p:cNvPr>
          <p:cNvSpPr txBox="1"/>
          <p:nvPr/>
        </p:nvSpPr>
        <p:spPr>
          <a:xfrm>
            <a:off x="2962166" y="4914703"/>
            <a:ext cx="837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70/90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CBF8782-EEF6-E842-3E57-698DA5A1F2BF}"/>
              </a:ext>
            </a:extLst>
          </p:cNvPr>
          <p:cNvSpPr txBox="1"/>
          <p:nvPr/>
        </p:nvSpPr>
        <p:spPr>
          <a:xfrm>
            <a:off x="9145415" y="4914703"/>
            <a:ext cx="837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0/30</a:t>
            </a:r>
          </a:p>
        </p:txBody>
      </p:sp>
    </p:spTree>
    <p:extLst>
      <p:ext uri="{BB962C8B-B14F-4D97-AF65-F5344CB8AC3E}">
        <p14:creationId xmlns:p14="http://schemas.microsoft.com/office/powerpoint/2010/main" val="4020211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382F5-D75A-3D7A-E5DE-F781FC0B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Espace réservé du contenu 15">
            <a:extLst>
              <a:ext uri="{FF2B5EF4-FFF2-40B4-BE49-F238E27FC236}">
                <a16:creationId xmlns:a16="http://schemas.microsoft.com/office/drawing/2014/main" id="{B8F1D306-E2E9-263E-D90F-66809C4D2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14"/>
            <a:ext cx="12205176" cy="686708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78A412-4CB3-485A-DD10-0AA4D1794E8E}"/>
              </a:ext>
            </a:extLst>
          </p:cNvPr>
          <p:cNvSpPr/>
          <p:nvPr/>
        </p:nvSpPr>
        <p:spPr>
          <a:xfrm>
            <a:off x="-13176" y="-1814"/>
            <a:ext cx="12205176" cy="611414"/>
          </a:xfrm>
          <a:prstGeom prst="rect">
            <a:avLst/>
          </a:prstGeom>
          <a:solidFill>
            <a:srgbClr val="4D7178"/>
          </a:solidFill>
          <a:ln>
            <a:solidFill>
              <a:srgbClr val="5776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3827081-57C3-4625-FA42-34B60CAA422F}"/>
              </a:ext>
            </a:extLst>
          </p:cNvPr>
          <p:cNvSpPr txBox="1"/>
          <p:nvPr/>
        </p:nvSpPr>
        <p:spPr>
          <a:xfrm>
            <a:off x="116112" y="43539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PV : 70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7EF84E5-6F85-62B4-B3A0-AF88340D09D1}"/>
              </a:ext>
            </a:extLst>
          </p:cNvPr>
          <p:cNvSpPr txBox="1"/>
          <p:nvPr/>
        </p:nvSpPr>
        <p:spPr>
          <a:xfrm>
            <a:off x="9622971" y="58053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ETAPE : 2</a:t>
            </a:r>
          </a:p>
        </p:txBody>
      </p:sp>
    </p:spTree>
    <p:extLst>
      <p:ext uri="{BB962C8B-B14F-4D97-AF65-F5344CB8AC3E}">
        <p14:creationId xmlns:p14="http://schemas.microsoft.com/office/powerpoint/2010/main" val="4109934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1E875-FDD9-B882-52C4-E48A1305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44A16C0-6D1A-DBE2-1CD7-CAE23AED7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8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32325FE-8F78-2B63-0B85-FB8B12C4F4E3}"/>
              </a:ext>
            </a:extLst>
          </p:cNvPr>
          <p:cNvSpPr/>
          <p:nvPr/>
        </p:nvSpPr>
        <p:spPr>
          <a:xfrm>
            <a:off x="-13176" y="-1814"/>
            <a:ext cx="12205176" cy="611414"/>
          </a:xfrm>
          <a:prstGeom prst="rect">
            <a:avLst/>
          </a:prstGeom>
          <a:solidFill>
            <a:srgbClr val="4D7178"/>
          </a:solidFill>
          <a:ln>
            <a:solidFill>
              <a:srgbClr val="5776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5CFC4E1-462C-24DF-6091-63CD3635FBAC}"/>
              </a:ext>
            </a:extLst>
          </p:cNvPr>
          <p:cNvSpPr txBox="1"/>
          <p:nvPr/>
        </p:nvSpPr>
        <p:spPr>
          <a:xfrm>
            <a:off x="116112" y="43539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PV : 60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02BCF57-4AC9-4B28-41B9-9969B67E5729}"/>
              </a:ext>
            </a:extLst>
          </p:cNvPr>
          <p:cNvSpPr txBox="1"/>
          <p:nvPr/>
        </p:nvSpPr>
        <p:spPr>
          <a:xfrm>
            <a:off x="9622971" y="58053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ETAPE : 3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25B2039-8A66-84CC-4E79-EEA3551B838D}"/>
              </a:ext>
            </a:extLst>
          </p:cNvPr>
          <p:cNvSpPr/>
          <p:nvPr/>
        </p:nvSpPr>
        <p:spPr>
          <a:xfrm>
            <a:off x="116110" y="800098"/>
            <a:ext cx="5408390" cy="1323439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2D7936D-5577-1001-7426-5C24DC6ED5E0}"/>
              </a:ext>
            </a:extLst>
          </p:cNvPr>
          <p:cNvSpPr txBox="1"/>
          <p:nvPr/>
        </p:nvSpPr>
        <p:spPr>
          <a:xfrm>
            <a:off x="257175" y="800100"/>
            <a:ext cx="52673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Template de projet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Catalogue des données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Nodes et pipelines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B64BF8D-60A5-F4B7-2AD8-D9F535F6B2DE}"/>
              </a:ext>
            </a:extLst>
          </p:cNvPr>
          <p:cNvSpPr/>
          <p:nvPr/>
        </p:nvSpPr>
        <p:spPr>
          <a:xfrm>
            <a:off x="6688217" y="800099"/>
            <a:ext cx="5246608" cy="107721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D02BC25-CECC-7F84-D70C-FCA0E8A07A4A}"/>
              </a:ext>
            </a:extLst>
          </p:cNvPr>
          <p:cNvSpPr txBox="1"/>
          <p:nvPr/>
        </p:nvSpPr>
        <p:spPr>
          <a:xfrm>
            <a:off x="6791324" y="800099"/>
            <a:ext cx="52466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Changement de donnée (ce n’est pas très efficace)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Comparaison complexe (inefficace contre ce héros)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8FEF2C90-BB45-91AA-231E-ECE6FC7290EB}"/>
              </a:ext>
            </a:extLst>
          </p:cNvPr>
          <p:cNvSpPr/>
          <p:nvPr/>
        </p:nvSpPr>
        <p:spPr>
          <a:xfrm>
            <a:off x="2428875" y="4967859"/>
            <a:ext cx="1789176" cy="170688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EFAECD23-E935-16C5-870D-0241D9B8268B}"/>
              </a:ext>
            </a:extLst>
          </p:cNvPr>
          <p:cNvSpPr/>
          <p:nvPr/>
        </p:nvSpPr>
        <p:spPr>
          <a:xfrm>
            <a:off x="2428875" y="4967859"/>
            <a:ext cx="1085850" cy="170688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48F50D13-5457-C1DD-3203-BC304C93854F}"/>
              </a:ext>
            </a:extLst>
          </p:cNvPr>
          <p:cNvSpPr/>
          <p:nvPr/>
        </p:nvSpPr>
        <p:spPr>
          <a:xfrm>
            <a:off x="8101584" y="6171819"/>
            <a:ext cx="1789176" cy="170688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0F5D9602-BBB1-A4A3-3ADC-10172355D84C}"/>
              </a:ext>
            </a:extLst>
          </p:cNvPr>
          <p:cNvSpPr/>
          <p:nvPr/>
        </p:nvSpPr>
        <p:spPr>
          <a:xfrm>
            <a:off x="2428875" y="4967859"/>
            <a:ext cx="1789176" cy="170688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E08B05A1-BB5A-C375-94B3-B79AFFDEE15B}"/>
              </a:ext>
            </a:extLst>
          </p:cNvPr>
          <p:cNvSpPr/>
          <p:nvPr/>
        </p:nvSpPr>
        <p:spPr>
          <a:xfrm>
            <a:off x="2428875" y="4967859"/>
            <a:ext cx="1266825" cy="170688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AD80ADA2-FC56-2816-B394-F5466B9A950D}"/>
              </a:ext>
            </a:extLst>
          </p:cNvPr>
          <p:cNvSpPr txBox="1"/>
          <p:nvPr/>
        </p:nvSpPr>
        <p:spPr>
          <a:xfrm>
            <a:off x="2962166" y="4914703"/>
            <a:ext cx="837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60/90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92BAA125-FE41-9AE9-B983-468337205975}"/>
              </a:ext>
            </a:extLst>
          </p:cNvPr>
          <p:cNvSpPr txBox="1"/>
          <p:nvPr/>
        </p:nvSpPr>
        <p:spPr>
          <a:xfrm>
            <a:off x="8669927" y="6118663"/>
            <a:ext cx="837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0/50</a:t>
            </a: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21BEC011-08CF-5DF0-C709-D4DD408A8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310" y="5138547"/>
            <a:ext cx="857661" cy="48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74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2C889-17F0-0A1F-B8C3-0C4C854C7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8E1FFA6-F1E3-B42B-B4F9-553C959CB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8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380CDBE-C335-12E6-9F79-EBBD081EBE2A}"/>
              </a:ext>
            </a:extLst>
          </p:cNvPr>
          <p:cNvSpPr/>
          <p:nvPr/>
        </p:nvSpPr>
        <p:spPr>
          <a:xfrm>
            <a:off x="-13176" y="-1814"/>
            <a:ext cx="12205176" cy="611414"/>
          </a:xfrm>
          <a:prstGeom prst="rect">
            <a:avLst/>
          </a:prstGeom>
          <a:solidFill>
            <a:srgbClr val="4D7178"/>
          </a:solidFill>
          <a:ln>
            <a:solidFill>
              <a:srgbClr val="5776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E9B54DE-DC2D-A940-CED9-3A7BCAD4A64B}"/>
              </a:ext>
            </a:extLst>
          </p:cNvPr>
          <p:cNvSpPr txBox="1"/>
          <p:nvPr/>
        </p:nvSpPr>
        <p:spPr>
          <a:xfrm>
            <a:off x="116112" y="43539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PV : 50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C701120-7503-D4D5-07D9-44624E760177}"/>
              </a:ext>
            </a:extLst>
          </p:cNvPr>
          <p:cNvSpPr txBox="1"/>
          <p:nvPr/>
        </p:nvSpPr>
        <p:spPr>
          <a:xfrm>
            <a:off x="9622971" y="58053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ETAPE : 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DB5840C-FB7E-D537-F3AD-015C5C91496C}"/>
              </a:ext>
            </a:extLst>
          </p:cNvPr>
          <p:cNvSpPr/>
          <p:nvPr/>
        </p:nvSpPr>
        <p:spPr>
          <a:xfrm>
            <a:off x="116110" y="800098"/>
            <a:ext cx="5408390" cy="1323439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0701FC8-56AF-8C64-E512-010BF486740F}"/>
              </a:ext>
            </a:extLst>
          </p:cNvPr>
          <p:cNvSpPr txBox="1"/>
          <p:nvPr/>
        </p:nvSpPr>
        <p:spPr>
          <a:xfrm>
            <a:off x="257175" y="800100"/>
            <a:ext cx="52673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Template de projet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Catalogue des données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Nodes et pipelines</a:t>
            </a:r>
          </a:p>
          <a:p>
            <a:pPr marL="285750" indent="-285750">
              <a:buFontTx/>
              <a:buChar char="-"/>
            </a:pPr>
            <a:r>
              <a:rPr lang="fr-FR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Tracking</a:t>
            </a:r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 des </a:t>
            </a:r>
            <a:r>
              <a:rPr lang="fr-FR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Engravers MT" panose="02090707080505020304" pitchFamily="18" charset="0"/>
              </a:rPr>
              <a:t>experiences</a:t>
            </a:r>
            <a:endParaRPr lang="fr-FR" sz="1600" dirty="0">
              <a:solidFill>
                <a:schemeClr val="accent6">
                  <a:lumMod val="60000"/>
                  <a:lumOff val="40000"/>
                </a:schemeClr>
              </a:solidFill>
              <a:latin typeface="Engravers MT" panose="02090707080505020304" pitchFamily="18" charset="0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67E3D97-0F4C-A012-77A3-4DE75EA67103}"/>
              </a:ext>
            </a:extLst>
          </p:cNvPr>
          <p:cNvSpPr/>
          <p:nvPr/>
        </p:nvSpPr>
        <p:spPr>
          <a:xfrm>
            <a:off x="6688217" y="800099"/>
            <a:ext cx="5246608" cy="107721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C95BA09-9813-A842-0968-E64BC16F5203}"/>
              </a:ext>
            </a:extLst>
          </p:cNvPr>
          <p:cNvSpPr txBox="1"/>
          <p:nvPr/>
        </p:nvSpPr>
        <p:spPr>
          <a:xfrm>
            <a:off x="6791324" y="800099"/>
            <a:ext cx="52466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Impossible d’appliquer confusion a l’ennemi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L’amnésie ne fonctionne pas 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FF3300"/>
                </a:solidFill>
                <a:latin typeface="Engravers MT" panose="02090707080505020304" pitchFamily="18" charset="0"/>
              </a:rPr>
              <a:t>La précision ne baisse pas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D8A17AE7-574D-95BF-4ED6-1810375E9D24}"/>
              </a:ext>
            </a:extLst>
          </p:cNvPr>
          <p:cNvSpPr/>
          <p:nvPr/>
        </p:nvSpPr>
        <p:spPr>
          <a:xfrm>
            <a:off x="2558415" y="5059299"/>
            <a:ext cx="1789176" cy="170688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626C2FB4-0F0E-8FC1-29F5-57436286DDB6}"/>
              </a:ext>
            </a:extLst>
          </p:cNvPr>
          <p:cNvSpPr/>
          <p:nvPr/>
        </p:nvSpPr>
        <p:spPr>
          <a:xfrm>
            <a:off x="2558415" y="5059299"/>
            <a:ext cx="1026160" cy="170688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086F460-E9D3-966B-37F2-8CCE793F695B}"/>
              </a:ext>
            </a:extLst>
          </p:cNvPr>
          <p:cNvSpPr/>
          <p:nvPr/>
        </p:nvSpPr>
        <p:spPr>
          <a:xfrm>
            <a:off x="7833795" y="5600319"/>
            <a:ext cx="1789176" cy="170688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70D78D3-8361-B689-E1AA-279B971AA386}"/>
              </a:ext>
            </a:extLst>
          </p:cNvPr>
          <p:cNvSpPr txBox="1"/>
          <p:nvPr/>
        </p:nvSpPr>
        <p:spPr>
          <a:xfrm>
            <a:off x="3132981" y="5006143"/>
            <a:ext cx="837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50/90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BD2A147-A3CF-DF2C-C111-793331454EF4}"/>
              </a:ext>
            </a:extLst>
          </p:cNvPr>
          <p:cNvSpPr txBox="1"/>
          <p:nvPr/>
        </p:nvSpPr>
        <p:spPr>
          <a:xfrm>
            <a:off x="8367086" y="5547163"/>
            <a:ext cx="837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0/100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F9C481BF-0A10-18C7-8C57-3ACB85F5D1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474" y="5229987"/>
            <a:ext cx="857661" cy="48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098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818C2-59FE-0F33-9E74-98E2BB8AC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AAC7093-3E4D-7B0A-16AF-A4C64BBE3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0812" cy="687025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06A405A-B321-0E89-8CC6-EA388BFD0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66E2BFD-237B-4AFC-6491-1C7B5C18F709}"/>
              </a:ext>
            </a:extLst>
          </p:cNvPr>
          <p:cNvSpPr/>
          <p:nvPr/>
        </p:nvSpPr>
        <p:spPr>
          <a:xfrm>
            <a:off x="-13176" y="-1814"/>
            <a:ext cx="12205176" cy="611414"/>
          </a:xfrm>
          <a:prstGeom prst="rect">
            <a:avLst/>
          </a:prstGeom>
          <a:solidFill>
            <a:srgbClr val="4D7178"/>
          </a:solidFill>
          <a:ln>
            <a:solidFill>
              <a:srgbClr val="5776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AC14D8C-EEB3-159F-C48B-6904604B052B}"/>
              </a:ext>
            </a:extLst>
          </p:cNvPr>
          <p:cNvSpPr txBox="1"/>
          <p:nvPr/>
        </p:nvSpPr>
        <p:spPr>
          <a:xfrm>
            <a:off x="116112" y="43539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PV : 70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3DB14C0-CDE7-C318-82AC-F199317F0F7A}"/>
              </a:ext>
            </a:extLst>
          </p:cNvPr>
          <p:cNvSpPr txBox="1"/>
          <p:nvPr/>
        </p:nvSpPr>
        <p:spPr>
          <a:xfrm>
            <a:off x="9622971" y="58053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Engravers MT" panose="02090707080505020304" pitchFamily="18" charset="0"/>
                <a:cs typeface="Aldhabi" panose="020F0502020204030204" pitchFamily="2" charset="-78"/>
              </a:rPr>
              <a:t>ETAPE : 5 </a:t>
            </a:r>
          </a:p>
        </p:txBody>
      </p:sp>
    </p:spTree>
    <p:extLst>
      <p:ext uri="{BB962C8B-B14F-4D97-AF65-F5344CB8AC3E}">
        <p14:creationId xmlns:p14="http://schemas.microsoft.com/office/powerpoint/2010/main" val="17791551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217</Words>
  <Application>Microsoft Office PowerPoint</Application>
  <PresentationFormat>Grand écran</PresentationFormat>
  <Paragraphs>73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Engravers MT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Cyril LECONTE</dc:creator>
  <cp:lastModifiedBy>Cyril LECONTE</cp:lastModifiedBy>
  <cp:revision>1</cp:revision>
  <dcterms:created xsi:type="dcterms:W3CDTF">2026-10-21T16:51:02Z</dcterms:created>
  <dcterms:modified xsi:type="dcterms:W3CDTF">2026-10-21T19:41:51Z</dcterms:modified>
</cp:coreProperties>
</file>